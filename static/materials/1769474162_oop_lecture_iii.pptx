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</p:sldMasterIdLst>
  <p:notesMasterIdLst>
    <p:notesMasterId r:id="rId19"/>
  </p:notesMasterIdLst>
  <p:sldIdLst>
    <p:sldId id="256" r:id="rId2"/>
    <p:sldId id="260" r:id="rId3"/>
    <p:sldId id="262" r:id="rId4"/>
    <p:sldId id="265" r:id="rId5"/>
    <p:sldId id="266" r:id="rId6"/>
    <p:sldId id="267" r:id="rId7"/>
    <p:sldId id="268" r:id="rId8"/>
    <p:sldId id="271" r:id="rId9"/>
    <p:sldId id="272" r:id="rId10"/>
    <p:sldId id="273" r:id="rId11"/>
    <p:sldId id="274" r:id="rId12"/>
    <p:sldId id="276" r:id="rId13"/>
    <p:sldId id="278" r:id="rId14"/>
    <p:sldId id="279" r:id="rId15"/>
    <p:sldId id="264" r:id="rId16"/>
    <p:sldId id="281" r:id="rId17"/>
    <p:sldId id="29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1F1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>
        <p:scale>
          <a:sx n="67" d="100"/>
          <a:sy n="67" d="100"/>
        </p:scale>
        <p:origin x="8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967CA2-A7CD-4250-A9BB-2B9217F3E5B8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4DDD82-8C26-44D4-8313-9731546C0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4067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E7CC14-332A-4A42-BC47-9E67C88AB136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97117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E7CC14-332A-4A42-BC47-9E67C88AB136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48083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E7CC14-332A-4A42-BC47-9E67C88AB136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17526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3D48E-B225-4A68-B05F-5FE645BF1FB6}" type="datetime1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87A3F-1EEA-4FD3-8D97-9A4D6B2192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995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5AB90-DE6D-4D24-9952-AB62EA37903A}" type="datetime1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87A3F-1EEA-4FD3-8D97-9A4D6B2192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5302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C82B0-6FAC-46C3-B13E-9C08C286611B}" type="datetime1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87A3F-1EEA-4FD3-8D97-9A4D6B2192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5129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FEE32-F873-4D46-86F1-658124D2A675}" type="datetime1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87A3F-1EEA-4FD3-8D97-9A4D6B2192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729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D6A51-0E93-4B24-9729-86A662B5723F}" type="datetime1">
              <a:rPr lang="en-US" smtClean="0"/>
              <a:t>11/19/2025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87A3F-1EEA-4FD3-8D97-9A4D6B2192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6122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E836C-2D8F-4203-BD61-D659B92FC9A9}" type="datetime1">
              <a:rPr lang="en-US" smtClean="0"/>
              <a:t>11/19/2025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87A3F-1EEA-4FD3-8D97-9A4D6B2192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0179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35910-6D7F-4258-8535-6CA181300678}" type="datetime1">
              <a:rPr lang="en-US" smtClean="0"/>
              <a:t>11/19/2025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87A3F-1EEA-4FD3-8D97-9A4D6B2192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281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4D295-5255-4A43-9242-6BAFC574EF52}" type="datetime1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87A3F-1EEA-4FD3-8D97-9A4D6B2192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4573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FD26A653-87BB-41DD-8C93-BEB5B673CB91}" type="datetime1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EBA87A3F-1EEA-4FD3-8D97-9A4D6B2192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5799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183F8-C15D-4EC7-80F9-DFDCF115E689}" type="datetime1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87A3F-1EEA-4FD3-8D97-9A4D6B2192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2783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AB00A-25D5-4451-B8DF-AA64327D7A50}" type="datetime1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87A3F-1EEA-4FD3-8D97-9A4D6B2192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1227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54A07-74E0-46ED-AA70-0AD0DD444018}" type="datetime1">
              <a:rPr lang="en-US" smtClean="0"/>
              <a:t>11/19/2025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87A3F-1EEA-4FD3-8D97-9A4D6B2192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5238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6596C-BE4F-4DB4-B039-F2E495168DB3}" type="datetime1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87A3F-1EEA-4FD3-8D97-9A4D6B2192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9810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149D3-D101-4E79-B5E4-AB685FAC8563}" type="datetime1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87A3F-1EEA-4FD3-8D97-9A4D6B2192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8546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88044616-91D1-4882-8E2E-277DFAB08201}" type="datetime1">
              <a:rPr lang="en-US" smtClean="0"/>
              <a:t>11/19/2025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EBA87A3F-1EEA-4FD3-8D97-9A4D6B2192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12381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  <p:sldLayoutId id="2147483688" r:id="rId13"/>
    <p:sldLayoutId id="2147483689" r:id="rId14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3F607-CE66-42CE-9318-5ED78CA684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7830" y="1697277"/>
            <a:ext cx="10231578" cy="2971051"/>
          </a:xfrm>
        </p:spPr>
        <p:txBody>
          <a:bodyPr/>
          <a:lstStyle/>
          <a:p>
            <a:pPr algn="ctr"/>
            <a:r>
              <a:rPr lang="en-GB" sz="4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OBJECT ORIENTED PROGRAMMING </a:t>
            </a:r>
            <a:br>
              <a:rPr lang="en-GB" sz="4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GB" sz="4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(WITH JAVA)</a:t>
            </a:r>
            <a:br>
              <a:rPr lang="en-GB" sz="4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GB" sz="4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Lecture 3</a:t>
            </a:r>
            <a:br>
              <a:rPr lang="en-GB" sz="4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GB" sz="4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INTRODUCTION TO JAVA</a:t>
            </a:r>
            <a:endParaRPr lang="en-US" sz="4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4D10A8-9104-4CD2-BC73-B00411456E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928468"/>
          </a:xfrm>
        </p:spPr>
        <p:txBody>
          <a:bodyPr>
            <a:noAutofit/>
          </a:bodyPr>
          <a:lstStyle/>
          <a:p>
            <a:pPr algn="ctr"/>
            <a:r>
              <a:rPr lang="en-GB" sz="1600" dirty="0"/>
              <a:t>DEPARTMENT OF COMPUTER SCIENCE </a:t>
            </a:r>
          </a:p>
          <a:p>
            <a:pPr algn="ctr"/>
            <a:r>
              <a:rPr lang="en-US" sz="1600" dirty="0"/>
              <a:t>LAGOS STATE UNIVERSITY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0CD2E0-86FA-40F3-B7B6-3532EFC9AFD1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9866" y="6063770"/>
            <a:ext cx="712268" cy="685434"/>
          </a:xfrm>
          <a:prstGeom prst="rect">
            <a:avLst/>
          </a:prstGeom>
          <a:noFill/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00BE16-97A5-446E-884B-C0440DCB8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87A3F-1EEA-4FD3-8D97-9A4D6B219299}" type="slidenum">
              <a:rPr lang="en-US" smtClean="0"/>
              <a:t>1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64AF17E-03A3-426C-80FB-BDE608BEEE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7280" y="339842"/>
            <a:ext cx="1357435" cy="135743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407786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F20EA-4809-41CE-BDC5-97222FADA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Fundamentals of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75496C-8FA4-4867-A363-65B540673A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3662" y="2377279"/>
            <a:ext cx="5617618" cy="3843131"/>
          </a:xfrm>
        </p:spPr>
        <p:txBody>
          <a:bodyPr>
            <a:noAutofit/>
          </a:bodyPr>
          <a:lstStyle/>
          <a:p>
            <a:r>
              <a:rPr lang="en-GB" sz="2800" dirty="0">
                <a:highlight>
                  <a:srgbClr val="FFFF00"/>
                </a:highlight>
              </a:rPr>
              <a:t>Basic Syntax  </a:t>
            </a:r>
          </a:p>
          <a:p>
            <a:r>
              <a:rPr lang="en-GB" sz="2800" dirty="0"/>
              <a:t>Programming Environment </a:t>
            </a:r>
          </a:p>
          <a:p>
            <a:r>
              <a:rPr lang="en-GB" sz="2800" dirty="0">
                <a:highlight>
                  <a:srgbClr val="FFFF00"/>
                </a:highlight>
              </a:rPr>
              <a:t>Data Types </a:t>
            </a:r>
          </a:p>
          <a:p>
            <a:r>
              <a:rPr lang="en-GB" sz="2800" dirty="0"/>
              <a:t>Variables</a:t>
            </a:r>
          </a:p>
          <a:p>
            <a:r>
              <a:rPr lang="en-GB" sz="2800" dirty="0"/>
              <a:t>Keywords </a:t>
            </a:r>
          </a:p>
          <a:p>
            <a:r>
              <a:rPr lang="en-GB" sz="2800" dirty="0"/>
              <a:t>Basic Operators </a:t>
            </a:r>
          </a:p>
          <a:p>
            <a:r>
              <a:rPr lang="en-GB" sz="2800" dirty="0"/>
              <a:t>File I/O</a:t>
            </a:r>
            <a:endParaRPr lang="en-US" sz="2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7FDC3D-DFDE-44B4-B8D3-D00CFCE86A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2668" y="5683348"/>
            <a:ext cx="1155670" cy="1985652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253310C-7A48-46B3-9A50-C693F3CB1B57}"/>
              </a:ext>
            </a:extLst>
          </p:cNvPr>
          <p:cNvSpPr txBox="1">
            <a:spLocks/>
          </p:cNvSpPr>
          <p:nvPr/>
        </p:nvSpPr>
        <p:spPr>
          <a:xfrm>
            <a:off x="5764380" y="2077476"/>
            <a:ext cx="5617618" cy="3843131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800" dirty="0"/>
          </a:p>
          <a:p>
            <a:r>
              <a:rPr lang="en-GB" sz="2800" dirty="0"/>
              <a:t>Decision Making </a:t>
            </a:r>
          </a:p>
          <a:p>
            <a:r>
              <a:rPr lang="en-GB" sz="2800" dirty="0"/>
              <a:t>Loops </a:t>
            </a:r>
          </a:p>
          <a:p>
            <a:r>
              <a:rPr lang="en-GB" sz="2800" dirty="0"/>
              <a:t>Numbers </a:t>
            </a:r>
          </a:p>
          <a:p>
            <a:r>
              <a:rPr lang="en-GB" sz="2800" dirty="0"/>
              <a:t>Characters </a:t>
            </a:r>
          </a:p>
          <a:p>
            <a:r>
              <a:rPr lang="en-GB" sz="2800" dirty="0"/>
              <a:t>Arrays </a:t>
            </a:r>
          </a:p>
          <a:p>
            <a:r>
              <a:rPr lang="en-GB" sz="2800" dirty="0"/>
              <a:t>Strings </a:t>
            </a:r>
          </a:p>
          <a:p>
            <a:r>
              <a:rPr lang="en-GB" sz="2800" dirty="0"/>
              <a:t>Functions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094361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F20EA-4809-41CE-BDC5-97222FADA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Basic Syntax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75496C-8FA4-4867-A363-65B540673A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475" y="2988462"/>
            <a:ext cx="9829669" cy="3869538"/>
          </a:xfrm>
        </p:spPr>
        <p:txBody>
          <a:bodyPr>
            <a:no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Execute Sample Java (Syntax) </a:t>
            </a:r>
          </a:p>
          <a:p>
            <a:r>
              <a:rPr lang="en-GB" dirty="0">
                <a:solidFill>
                  <a:srgbClr val="FF0000"/>
                </a:solidFill>
              </a:rPr>
              <a:t>Number and String (characters)</a:t>
            </a:r>
          </a:p>
          <a:p>
            <a:r>
              <a:rPr lang="en-GB" dirty="0">
                <a:solidFill>
                  <a:srgbClr val="FF0000"/>
                </a:solidFill>
              </a:rPr>
              <a:t>Keywords</a:t>
            </a:r>
          </a:p>
          <a:p>
            <a:r>
              <a:rPr lang="en-GB" dirty="0">
                <a:solidFill>
                  <a:srgbClr val="FF0000"/>
                </a:solidFill>
              </a:rPr>
              <a:t>Java Variables</a:t>
            </a:r>
          </a:p>
          <a:p>
            <a:r>
              <a:rPr lang="en-GB" dirty="0"/>
              <a:t>Operations</a:t>
            </a:r>
          </a:p>
          <a:p>
            <a:endParaRPr lang="en-GB" dirty="0"/>
          </a:p>
          <a:p>
            <a:endParaRPr lang="en-GB" dirty="0"/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2639951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4">
            <a:extLst>
              <a:ext uri="{FF2B5EF4-FFF2-40B4-BE49-F238E27FC236}">
                <a16:creationId xmlns:a16="http://schemas.microsoft.com/office/drawing/2014/main" id="{08C46115-F449-4062-8DFD-E966980A6A2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16596" r="27862"/>
          <a:stretch/>
        </p:blipFill>
        <p:spPr>
          <a:xfrm>
            <a:off x="6108700" y="-1"/>
            <a:ext cx="6094450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252ADA-6BFB-45FF-80A2-34218D2D4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623" y="162375"/>
            <a:ext cx="5070100" cy="1559412"/>
          </a:xfrm>
        </p:spPr>
        <p:txBody>
          <a:bodyPr>
            <a:normAutofit/>
          </a:bodyPr>
          <a:lstStyle/>
          <a:p>
            <a:r>
              <a:rPr lang="en-GB" dirty="0"/>
              <a:t>Operations in Java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A75A79-FA8E-499F-BE83-0F0BE6BB08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2" y="2413000"/>
            <a:ext cx="5055923" cy="36322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sz="1700" dirty="0"/>
              <a:t>Operators are used to perform operations on variables and values called operands.</a:t>
            </a:r>
          </a:p>
          <a:p>
            <a:pPr>
              <a:lnSpc>
                <a:spcPct val="90000"/>
              </a:lnSpc>
            </a:pPr>
            <a:r>
              <a:rPr lang="en-GB" sz="1700" dirty="0"/>
              <a:t>Java divides the operators in the following groups:</a:t>
            </a:r>
          </a:p>
          <a:p>
            <a:pPr lvl="1">
              <a:lnSpc>
                <a:spcPct val="90000"/>
              </a:lnSpc>
            </a:pPr>
            <a:r>
              <a:rPr lang="en-GB" sz="1700" dirty="0"/>
              <a:t>Arithmetic operators</a:t>
            </a:r>
          </a:p>
          <a:p>
            <a:pPr lvl="1">
              <a:lnSpc>
                <a:spcPct val="90000"/>
              </a:lnSpc>
            </a:pPr>
            <a:r>
              <a:rPr lang="en-GB" sz="1700" dirty="0"/>
              <a:t>Assignment operators</a:t>
            </a:r>
          </a:p>
          <a:p>
            <a:pPr lvl="1">
              <a:lnSpc>
                <a:spcPct val="90000"/>
              </a:lnSpc>
            </a:pPr>
            <a:r>
              <a:rPr lang="en-GB" sz="1700" dirty="0"/>
              <a:t>Comparison operators</a:t>
            </a:r>
          </a:p>
          <a:p>
            <a:pPr lvl="1">
              <a:lnSpc>
                <a:spcPct val="90000"/>
              </a:lnSpc>
            </a:pPr>
            <a:r>
              <a:rPr lang="en-GB" sz="1700" dirty="0"/>
              <a:t>Logical operators</a:t>
            </a:r>
          </a:p>
          <a:p>
            <a:pPr>
              <a:lnSpc>
                <a:spcPct val="90000"/>
              </a:lnSpc>
            </a:pPr>
            <a:endParaRPr lang="en-GB" sz="1700" dirty="0"/>
          </a:p>
        </p:txBody>
      </p:sp>
    </p:spTree>
    <p:extLst>
      <p:ext uri="{BB962C8B-B14F-4D97-AF65-F5344CB8AC3E}">
        <p14:creationId xmlns:p14="http://schemas.microsoft.com/office/powerpoint/2010/main" val="29259567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52ADA-6BFB-45FF-80A2-34218D2D4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Arithmetic Operators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01A897B-71CC-4FF6-9308-C8D3DF9626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934167"/>
            <a:ext cx="12192000" cy="490893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3AB8C8E-A9F8-484E-B6E0-793536917C11}"/>
              </a:ext>
            </a:extLst>
          </p:cNvPr>
          <p:cNvSpPr/>
          <p:nvPr/>
        </p:nvSpPr>
        <p:spPr>
          <a:xfrm>
            <a:off x="0" y="5651292"/>
            <a:ext cx="12192000" cy="120670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6646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52ADA-6BFB-45FF-80A2-34218D2D4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Assignment Operators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3CA0A4E-4C2A-4175-99D5-B8E5CAF75C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" y="1839398"/>
            <a:ext cx="12192001" cy="5018602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E547214-CFDB-4EBC-8A46-C73DC96FED75}"/>
              </a:ext>
            </a:extLst>
          </p:cNvPr>
          <p:cNvSpPr/>
          <p:nvPr/>
        </p:nvSpPr>
        <p:spPr>
          <a:xfrm>
            <a:off x="0" y="5651292"/>
            <a:ext cx="12192000" cy="120670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4406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52ADA-6BFB-45FF-80A2-34218D2D4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Comparison Operators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3E76002-1D0B-48F9-BA2A-5B24FB5565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23209"/>
          <a:stretch/>
        </p:blipFill>
        <p:spPr>
          <a:xfrm>
            <a:off x="0" y="1912301"/>
            <a:ext cx="12192000" cy="4945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790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52ADA-6BFB-45FF-80A2-34218D2D4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Logical Operators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F04F055-A10D-47F8-954B-E3D8209B04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7033" y="1873770"/>
            <a:ext cx="12209033" cy="498422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D7A0071-5EE3-43BA-B1D8-CC21DC182C51}"/>
              </a:ext>
            </a:extLst>
          </p:cNvPr>
          <p:cNvSpPr txBox="1"/>
          <p:nvPr/>
        </p:nvSpPr>
        <p:spPr>
          <a:xfrm>
            <a:off x="1094282" y="2983042"/>
            <a:ext cx="4988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&amp;</a:t>
            </a:r>
            <a:endParaRPr lang="en-U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075184-8492-457C-835C-9CA2F28241F1}"/>
              </a:ext>
            </a:extLst>
          </p:cNvPr>
          <p:cNvSpPr txBox="1"/>
          <p:nvPr/>
        </p:nvSpPr>
        <p:spPr>
          <a:xfrm>
            <a:off x="1094281" y="4415479"/>
            <a:ext cx="4619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|</a:t>
            </a:r>
            <a:endParaRPr lang="en-U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898147-D5DC-4336-A326-E01812E795D1}"/>
              </a:ext>
            </a:extLst>
          </p:cNvPr>
          <p:cNvSpPr txBox="1"/>
          <p:nvPr/>
        </p:nvSpPr>
        <p:spPr>
          <a:xfrm>
            <a:off x="1094280" y="5847916"/>
            <a:ext cx="4619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~</a:t>
            </a:r>
            <a:endParaRPr lang="en-U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87DDE96-A1FD-402C-A345-55F8BB4600AE}"/>
              </a:ext>
            </a:extLst>
          </p:cNvPr>
          <p:cNvSpPr/>
          <p:nvPr/>
        </p:nvSpPr>
        <p:spPr>
          <a:xfrm>
            <a:off x="8514413" y="2983042"/>
            <a:ext cx="2583305" cy="445958"/>
          </a:xfrm>
          <a:prstGeom prst="rect">
            <a:avLst/>
          </a:prstGeom>
          <a:solidFill>
            <a:srgbClr val="F1F1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1213724-36EA-45D0-A911-C9C885DF0C7F}"/>
              </a:ext>
            </a:extLst>
          </p:cNvPr>
          <p:cNvSpPr/>
          <p:nvPr/>
        </p:nvSpPr>
        <p:spPr>
          <a:xfrm>
            <a:off x="8278261" y="4292686"/>
            <a:ext cx="2583305" cy="44595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D0DB43F-2253-4495-AFC1-2A84E8855450}"/>
              </a:ext>
            </a:extLst>
          </p:cNvPr>
          <p:cNvSpPr txBox="1"/>
          <p:nvPr/>
        </p:nvSpPr>
        <p:spPr>
          <a:xfrm>
            <a:off x="8638938" y="4488677"/>
            <a:ext cx="21050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X&lt;5|x&lt;4</a:t>
            </a:r>
            <a:endParaRPr lang="en-U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1BD6CE-D623-4CC3-8958-6D0C3D9E5874}"/>
              </a:ext>
            </a:extLst>
          </p:cNvPr>
          <p:cNvSpPr txBox="1"/>
          <p:nvPr/>
        </p:nvSpPr>
        <p:spPr>
          <a:xfrm>
            <a:off x="8514413" y="3190223"/>
            <a:ext cx="26597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X&lt;5 &amp;x &lt;10</a:t>
            </a:r>
            <a:endParaRPr lang="en-U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86C168E-E531-4AD7-8F14-78956E683993}"/>
              </a:ext>
            </a:extLst>
          </p:cNvPr>
          <p:cNvSpPr txBox="1"/>
          <p:nvPr/>
        </p:nvSpPr>
        <p:spPr>
          <a:xfrm>
            <a:off x="8246222" y="6112768"/>
            <a:ext cx="46456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~(X&lt;5 &amp; x &lt;10)</a:t>
            </a:r>
            <a:endParaRPr lang="en-U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C85F7CB-E879-41EC-8314-54D9968881D9}"/>
              </a:ext>
            </a:extLst>
          </p:cNvPr>
          <p:cNvSpPr/>
          <p:nvPr/>
        </p:nvSpPr>
        <p:spPr>
          <a:xfrm>
            <a:off x="8643549" y="5666810"/>
            <a:ext cx="2845461" cy="445958"/>
          </a:xfrm>
          <a:prstGeom prst="rect">
            <a:avLst/>
          </a:prstGeom>
          <a:solidFill>
            <a:srgbClr val="F1F1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7598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22C6E-5C3E-498D-A681-290D41D738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GB" sz="3100" dirty="0"/>
              <a:t>Decision Making (Control structure): </a:t>
            </a:r>
            <a:br>
              <a:rPr lang="en-GB" sz="3100" dirty="0"/>
            </a:br>
            <a:r>
              <a:rPr lang="en-GB" sz="3100" dirty="0"/>
              <a:t>Conditions and IF Statements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E6039A-DEE5-40E5-9BDC-6A8841E14D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1508" y="1947694"/>
            <a:ext cx="8184630" cy="464694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sz="1600" dirty="0"/>
              <a:t>Java supports the usual logical conditions from mathematics:</a:t>
            </a:r>
          </a:p>
          <a:p>
            <a:pPr lvl="1">
              <a:lnSpc>
                <a:spcPct val="90000"/>
              </a:lnSpc>
            </a:pPr>
            <a:r>
              <a:rPr lang="en-GB" dirty="0"/>
              <a:t>Equals: a == b</a:t>
            </a:r>
          </a:p>
          <a:p>
            <a:pPr lvl="1">
              <a:lnSpc>
                <a:spcPct val="90000"/>
              </a:lnSpc>
            </a:pPr>
            <a:r>
              <a:rPr lang="en-GB" dirty="0"/>
              <a:t>Not Equals: a != b</a:t>
            </a:r>
          </a:p>
          <a:p>
            <a:pPr lvl="1">
              <a:lnSpc>
                <a:spcPct val="90000"/>
              </a:lnSpc>
            </a:pPr>
            <a:r>
              <a:rPr lang="en-GB" dirty="0"/>
              <a:t>Less than: a &lt; b</a:t>
            </a:r>
          </a:p>
          <a:p>
            <a:pPr lvl="1">
              <a:lnSpc>
                <a:spcPct val="90000"/>
              </a:lnSpc>
            </a:pPr>
            <a:r>
              <a:rPr lang="en-GB" dirty="0"/>
              <a:t>Less than or equal to: a &lt;= b</a:t>
            </a:r>
          </a:p>
          <a:p>
            <a:pPr lvl="1">
              <a:lnSpc>
                <a:spcPct val="90000"/>
              </a:lnSpc>
            </a:pPr>
            <a:r>
              <a:rPr lang="en-GB" dirty="0"/>
              <a:t>Greater than: a &gt; b</a:t>
            </a:r>
          </a:p>
          <a:p>
            <a:pPr lvl="1">
              <a:lnSpc>
                <a:spcPct val="90000"/>
              </a:lnSpc>
            </a:pPr>
            <a:r>
              <a:rPr lang="en-GB" dirty="0"/>
              <a:t>Greater than or equal to: a &gt;= b</a:t>
            </a:r>
          </a:p>
          <a:p>
            <a:pPr>
              <a:lnSpc>
                <a:spcPct val="90000"/>
              </a:lnSpc>
            </a:pPr>
            <a:r>
              <a:rPr lang="en-GB" sz="1600" dirty="0"/>
              <a:t>An "if statement" is written by using the if keyword.</a:t>
            </a:r>
          </a:p>
          <a:p>
            <a:pPr lvl="1">
              <a:lnSpc>
                <a:spcPct val="90000"/>
              </a:lnSpc>
            </a:pPr>
            <a:r>
              <a:rPr lang="en-GB" dirty="0"/>
              <a:t>If</a:t>
            </a:r>
          </a:p>
          <a:p>
            <a:pPr lvl="1">
              <a:lnSpc>
                <a:spcPct val="90000"/>
              </a:lnSpc>
            </a:pPr>
            <a:r>
              <a:rPr lang="en-GB" dirty="0"/>
              <a:t>If… else if</a:t>
            </a:r>
          </a:p>
          <a:p>
            <a:pPr lvl="1">
              <a:lnSpc>
                <a:spcPct val="90000"/>
              </a:lnSpc>
            </a:pPr>
            <a:r>
              <a:rPr lang="en-GB" dirty="0"/>
              <a:t>If… else</a:t>
            </a:r>
          </a:p>
          <a:p>
            <a:pPr lvl="1">
              <a:lnSpc>
                <a:spcPct val="90000"/>
              </a:lnSpc>
            </a:pPr>
            <a:r>
              <a:rPr lang="en-GB" dirty="0"/>
              <a:t>If… else if… if</a:t>
            </a:r>
          </a:p>
        </p:txBody>
      </p:sp>
      <p:pic>
        <p:nvPicPr>
          <p:cNvPr id="7" name="Graphic 6" descr="Web Design">
            <a:extLst>
              <a:ext uri="{FF2B5EF4-FFF2-40B4-BE49-F238E27FC236}">
                <a16:creationId xmlns:a16="http://schemas.microsoft.com/office/drawing/2014/main" id="{1158E8F6-5322-48CB-9142-A9B32FBB44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66138" y="2814638"/>
            <a:ext cx="2913062" cy="2913062"/>
          </a:xfrm>
          <a:prstGeom prst="roundRect">
            <a:avLst>
              <a:gd name="adj" fmla="val 3876"/>
            </a:avLst>
          </a:prstGeom>
          <a:ln>
            <a:solidFill>
              <a:schemeClr val="accent1"/>
            </a:solidFill>
          </a:ln>
          <a:effectLst/>
        </p:spPr>
      </p:pic>
    </p:spTree>
    <p:extLst>
      <p:ext uri="{BB962C8B-B14F-4D97-AF65-F5344CB8AC3E}">
        <p14:creationId xmlns:p14="http://schemas.microsoft.com/office/powerpoint/2010/main" val="15812114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E93C7-9979-4070-9C11-F7B85A75A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515" y="1734857"/>
            <a:ext cx="3765483" cy="3388287"/>
          </a:xfrm>
        </p:spPr>
        <p:txBody>
          <a:bodyPr anchor="ctr">
            <a:normAutofit/>
          </a:bodyPr>
          <a:lstStyle/>
          <a:p>
            <a:r>
              <a:rPr lang="en-GB" dirty="0"/>
              <a:t>IF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288151-A021-4D84-968E-0C12588941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66675" y="978993"/>
            <a:ext cx="6895475" cy="4900014"/>
          </a:xfrm>
          <a:effectLst/>
        </p:spPr>
        <p:txBody>
          <a:bodyPr>
            <a:normAutofit/>
          </a:bodyPr>
          <a:lstStyle/>
          <a:p>
            <a:r>
              <a:rPr lang="en-GB" sz="2000" dirty="0"/>
              <a:t>If (conditional statement ):</a:t>
            </a:r>
          </a:p>
          <a:p>
            <a:pPr marL="457200" lvl="1" indent="0">
              <a:buNone/>
            </a:pPr>
            <a:r>
              <a:rPr lang="en-GB" sz="2400" b="1" dirty="0"/>
              <a:t>	int a = 33;</a:t>
            </a:r>
            <a:br>
              <a:rPr lang="en-GB" sz="2400" b="1" dirty="0"/>
            </a:br>
            <a:r>
              <a:rPr lang="en-GB" sz="2400" b="1" dirty="0"/>
              <a:t>	int b = 200;</a:t>
            </a:r>
            <a:br>
              <a:rPr lang="en-GB" sz="2400" b="1" dirty="0"/>
            </a:br>
            <a:r>
              <a:rPr lang="en-GB" sz="2400" b="1" dirty="0"/>
              <a:t>	if (b &gt; a){</a:t>
            </a:r>
          </a:p>
          <a:p>
            <a:pPr marL="457200" lvl="1" indent="0">
              <a:buNone/>
            </a:pPr>
            <a:r>
              <a:rPr lang="en-GB" sz="2400" b="1" dirty="0"/>
              <a:t>	</a:t>
            </a:r>
            <a:r>
              <a:rPr lang="en-GB" sz="2400" b="1" dirty="0" err="1"/>
              <a:t>System.out.println</a:t>
            </a:r>
            <a:r>
              <a:rPr lang="en-GB" sz="2400" b="1" dirty="0"/>
              <a:t>("b is greater than a")</a:t>
            </a:r>
          </a:p>
          <a:p>
            <a:pPr marL="0" indent="0">
              <a:buNone/>
            </a:pPr>
            <a:r>
              <a:rPr lang="en-GB" sz="2000" dirty="0"/>
              <a:t>		}</a:t>
            </a:r>
          </a:p>
        </p:txBody>
      </p:sp>
    </p:spTree>
    <p:extLst>
      <p:ext uri="{BB962C8B-B14F-4D97-AF65-F5344CB8AC3E}">
        <p14:creationId xmlns:p14="http://schemas.microsoft.com/office/powerpoint/2010/main" val="12257354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E93C7-9979-4070-9C11-F7B85A75A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515" y="1734857"/>
            <a:ext cx="3765483" cy="3388287"/>
          </a:xfrm>
        </p:spPr>
        <p:txBody>
          <a:bodyPr anchor="ctr">
            <a:normAutofit/>
          </a:bodyPr>
          <a:lstStyle/>
          <a:p>
            <a:r>
              <a:rPr lang="en-GB" dirty="0"/>
              <a:t>ELSE IF Statement</a:t>
            </a:r>
            <a:br>
              <a:rPr lang="en-GB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288151-A021-4D84-968E-0C12588941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61353" y="1563609"/>
            <a:ext cx="5879132" cy="4900014"/>
          </a:xfrm>
          <a:effectLst/>
        </p:spPr>
        <p:txBody>
          <a:bodyPr>
            <a:normAutofit/>
          </a:bodyPr>
          <a:lstStyle/>
          <a:p>
            <a:r>
              <a:rPr lang="en-GB" sz="2000" dirty="0"/>
              <a:t>Else if statement:</a:t>
            </a:r>
          </a:p>
          <a:p>
            <a:pPr marL="457200" lvl="1" indent="0">
              <a:buNone/>
            </a:pPr>
            <a:r>
              <a:rPr lang="en-GB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	</a:t>
            </a:r>
            <a:r>
              <a:rPr lang="en-GB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= 33</a:t>
            </a:r>
            <a:br>
              <a:rPr lang="en-GB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GB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	b = 33</a:t>
            </a:r>
            <a:br>
              <a:rPr lang="en-GB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GB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	if (b &gt; a){</a:t>
            </a:r>
            <a:br>
              <a:rPr lang="en-GB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GB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  			print("b is greater than a")</a:t>
            </a:r>
          </a:p>
          <a:p>
            <a:pPr marL="457200" lvl="1" indent="0">
              <a:buNone/>
            </a:pPr>
            <a:r>
              <a:rPr lang="en-GB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}</a:t>
            </a:r>
            <a:br>
              <a:rPr lang="en-GB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GB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	else if (a == b){</a:t>
            </a:r>
            <a:br>
              <a:rPr lang="en-GB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GB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		print("a and b are equal")</a:t>
            </a:r>
          </a:p>
          <a:p>
            <a:pPr marL="457200" lvl="1" indent="0">
              <a:buNone/>
            </a:pPr>
            <a:r>
              <a:rPr lang="en-GB" sz="2000" b="1" dirty="0"/>
              <a:t>				}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0530866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E93C7-9979-4070-9C11-F7B85A75A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IF… ELSE IF … ELSE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288151-A021-4D84-968E-0C12588941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2" y="2222287"/>
            <a:ext cx="11248370" cy="4433346"/>
          </a:xfrm>
        </p:spPr>
        <p:txBody>
          <a:bodyPr>
            <a:normAutofit fontScale="40000" lnSpcReduction="20000"/>
          </a:bodyPr>
          <a:lstStyle/>
          <a:p>
            <a:r>
              <a:rPr lang="en-GB" sz="4000" dirty="0"/>
              <a:t>else statement:</a:t>
            </a:r>
          </a:p>
          <a:p>
            <a:pPr marL="457200" lvl="1" indent="0">
              <a:buNone/>
            </a:pPr>
            <a:r>
              <a:rPr lang="en-GB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						</a:t>
            </a:r>
            <a:r>
              <a:rPr lang="en-GB" sz="4400" b="1" dirty="0"/>
              <a:t>a = 200</a:t>
            </a:r>
            <a:br>
              <a:rPr lang="en-GB" sz="8000" b="1" dirty="0"/>
            </a:br>
            <a:r>
              <a:rPr lang="en-GB" sz="8000" b="1" dirty="0"/>
              <a:t>							</a:t>
            </a:r>
            <a:r>
              <a:rPr lang="en-GB" sz="4400" b="1" dirty="0"/>
              <a:t>b = 33</a:t>
            </a:r>
            <a:br>
              <a:rPr lang="en-GB" sz="8000" b="1" dirty="0"/>
            </a:br>
            <a:r>
              <a:rPr lang="en-GB" sz="8000" b="1" dirty="0"/>
              <a:t>							</a:t>
            </a:r>
            <a:r>
              <a:rPr lang="en-GB" sz="4400" b="1" dirty="0"/>
              <a:t>if (b &gt; a){</a:t>
            </a:r>
            <a:br>
              <a:rPr lang="en-GB" sz="8000" b="1" dirty="0"/>
            </a:br>
            <a:r>
              <a:rPr lang="en-GB" sz="8000" b="1" dirty="0"/>
              <a:t>								</a:t>
            </a:r>
            <a:r>
              <a:rPr lang="en-GB" sz="4400" b="1" dirty="0"/>
              <a:t>print("b is greater than a")</a:t>
            </a:r>
          </a:p>
          <a:p>
            <a:pPr marL="457200" lvl="1" indent="0">
              <a:buNone/>
            </a:pPr>
            <a:r>
              <a:rPr lang="en-GB" sz="4400" b="1" dirty="0"/>
              <a:t>							}</a:t>
            </a:r>
            <a:br>
              <a:rPr lang="en-GB" sz="8000" b="1" dirty="0"/>
            </a:br>
            <a:r>
              <a:rPr lang="en-GB" sz="8000" b="1" dirty="0"/>
              <a:t>							</a:t>
            </a:r>
            <a:r>
              <a:rPr lang="en-GB" sz="4400" b="1" dirty="0"/>
              <a:t>else if (a == b){</a:t>
            </a:r>
            <a:br>
              <a:rPr lang="en-GB" sz="8000" b="1" dirty="0"/>
            </a:br>
            <a:r>
              <a:rPr lang="en-GB" sz="4400" b="1" dirty="0"/>
              <a:t>  								print("a and b are equal")</a:t>
            </a:r>
          </a:p>
          <a:p>
            <a:pPr marL="457200" lvl="1" indent="0">
              <a:buNone/>
            </a:pPr>
            <a:r>
              <a:rPr lang="en-GB" sz="8000" b="1" dirty="0"/>
              <a:t>								</a:t>
            </a:r>
            <a:r>
              <a:rPr lang="en-GB" sz="4500" b="1" dirty="0"/>
              <a:t>}</a:t>
            </a:r>
            <a:br>
              <a:rPr lang="en-GB" sz="8000" b="1" dirty="0"/>
            </a:br>
            <a:r>
              <a:rPr lang="en-GB" sz="8000" b="1" dirty="0"/>
              <a:t>							</a:t>
            </a:r>
            <a:r>
              <a:rPr lang="en-GB" sz="4400" b="1" dirty="0"/>
              <a:t>else{</a:t>
            </a:r>
            <a:br>
              <a:rPr lang="en-GB" sz="8000" b="1" dirty="0"/>
            </a:br>
            <a:r>
              <a:rPr lang="en-GB" sz="8000" b="1" dirty="0"/>
              <a:t>								</a:t>
            </a:r>
            <a:r>
              <a:rPr lang="en-GB" sz="4400" b="1" dirty="0"/>
              <a:t>print("a is greater than b")</a:t>
            </a:r>
            <a:endParaRPr lang="en-GB" sz="8000" b="1" dirty="0"/>
          </a:p>
          <a:p>
            <a:pPr marL="457200" lvl="1" indent="0">
              <a:buNone/>
            </a:pPr>
            <a:r>
              <a:rPr lang="en-GB" sz="3600" b="1" dirty="0"/>
              <a:t>								}				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194698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3B672-A119-4385-BC6A-EC887A263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>
            <a:normAutofit/>
          </a:bodyPr>
          <a:lstStyle/>
          <a:p>
            <a:pPr algn="ctr"/>
            <a:r>
              <a:rPr lang="en-GB" dirty="0"/>
              <a:t>Loops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C97D15-7D51-41A7-8D50-2A59CC78E3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3" y="2413000"/>
            <a:ext cx="7199220" cy="3632200"/>
          </a:xfrm>
        </p:spPr>
        <p:txBody>
          <a:bodyPr>
            <a:normAutofit/>
          </a:bodyPr>
          <a:lstStyle/>
          <a:p>
            <a:r>
              <a:rPr lang="en-GB" sz="4000" dirty="0"/>
              <a:t>Java has two primitive loop commands:</a:t>
            </a:r>
          </a:p>
          <a:p>
            <a:pPr lvl="1"/>
            <a:r>
              <a:rPr lang="en-GB" sz="3600" dirty="0"/>
              <a:t>while loops</a:t>
            </a:r>
          </a:p>
          <a:p>
            <a:pPr lvl="1"/>
            <a:r>
              <a:rPr lang="en-GB" sz="3600" dirty="0"/>
              <a:t>for loops</a:t>
            </a:r>
          </a:p>
          <a:p>
            <a:endParaRPr lang="en-GB" dirty="0"/>
          </a:p>
        </p:txBody>
      </p:sp>
      <p:pic>
        <p:nvPicPr>
          <p:cNvPr id="4" name="Graphic 3" descr="Arrow circle">
            <a:extLst>
              <a:ext uri="{FF2B5EF4-FFF2-40B4-BE49-F238E27FC236}">
                <a16:creationId xmlns:a16="http://schemas.microsoft.com/office/drawing/2014/main" id="{CF47AEE9-B0E9-407F-80A5-A4FB77A0C7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66138" y="2814638"/>
            <a:ext cx="2913062" cy="2913062"/>
          </a:xfrm>
          <a:prstGeom prst="roundRect">
            <a:avLst>
              <a:gd name="adj" fmla="val 3876"/>
            </a:avLst>
          </a:prstGeom>
          <a:ln>
            <a:solidFill>
              <a:schemeClr val="accent1"/>
            </a:solidFill>
          </a:ln>
          <a:effectLst/>
        </p:spPr>
      </p:pic>
    </p:spTree>
    <p:extLst>
      <p:ext uri="{BB962C8B-B14F-4D97-AF65-F5344CB8AC3E}">
        <p14:creationId xmlns:p14="http://schemas.microsoft.com/office/powerpoint/2010/main" val="21433697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3B672-A119-4385-BC6A-EC887A263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7522" y="0"/>
            <a:ext cx="6097955" cy="1559412"/>
          </a:xfrm>
        </p:spPr>
        <p:txBody>
          <a:bodyPr>
            <a:normAutofit/>
          </a:bodyPr>
          <a:lstStyle/>
          <a:p>
            <a:r>
              <a:rPr lang="en-GB" dirty="0"/>
              <a:t>While Loops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C97D15-7D51-41A7-8D50-2A59CC78E3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2" y="2413000"/>
            <a:ext cx="6075179" cy="3632200"/>
          </a:xfrm>
        </p:spPr>
        <p:txBody>
          <a:bodyPr>
            <a:normAutofit/>
          </a:bodyPr>
          <a:lstStyle/>
          <a:p>
            <a:r>
              <a:rPr lang="en-GB" dirty="0"/>
              <a:t>With the while loop we can execute a set of statements as long as a condition is true.</a:t>
            </a:r>
            <a:r>
              <a:rPr lang="nn-NO" b="1" dirty="0"/>
              <a:t>			</a:t>
            </a:r>
          </a:p>
          <a:p>
            <a:pPr marL="457200" lvl="1" indent="0">
              <a:buNone/>
            </a:pPr>
            <a:r>
              <a:rPr lang="nn-NO" b="1" dirty="0"/>
              <a:t>			</a:t>
            </a:r>
            <a:r>
              <a:rPr lang="nn-NO" sz="3200" b="1" dirty="0"/>
              <a:t>i = 1</a:t>
            </a:r>
            <a:br>
              <a:rPr lang="nn-NO" sz="3200" b="1" dirty="0"/>
            </a:br>
            <a:r>
              <a:rPr lang="nn-NO" sz="3200" b="1" dirty="0"/>
              <a:t>			while (i &lt; 6){</a:t>
            </a:r>
            <a:br>
              <a:rPr lang="nn-NO" sz="3200" b="1" dirty="0"/>
            </a:br>
            <a:r>
              <a:rPr lang="nn-NO" sz="3200" b="1" dirty="0"/>
              <a:t>  			System.out.print(i);</a:t>
            </a:r>
            <a:br>
              <a:rPr lang="nn-NO" sz="3200" b="1" dirty="0"/>
            </a:br>
            <a:r>
              <a:rPr lang="nn-NO" sz="3200" b="1" dirty="0"/>
              <a:t>			i += 1;}</a:t>
            </a:r>
            <a:endParaRPr lang="en-GB" sz="3200" b="1" dirty="0"/>
          </a:p>
          <a:p>
            <a:endParaRPr lang="en-GB" dirty="0"/>
          </a:p>
        </p:txBody>
      </p:sp>
      <p:pic>
        <p:nvPicPr>
          <p:cNvPr id="5" name="Graphic 4" descr="Arrow circle">
            <a:extLst>
              <a:ext uri="{FF2B5EF4-FFF2-40B4-BE49-F238E27FC236}">
                <a16:creationId xmlns:a16="http://schemas.microsoft.com/office/drawing/2014/main" id="{90B9764F-6AC3-4354-9FCD-EB14CDBFC3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07487" y="2056096"/>
            <a:ext cx="2735071" cy="2735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7957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F20EA-4809-41CE-BDC5-97222FADA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199" y="885433"/>
            <a:ext cx="10261602" cy="3022257"/>
          </a:xfrm>
          <a:effectLst/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7200" dirty="0">
                <a:solidFill>
                  <a:schemeClr val="tx1"/>
                </a:solidFill>
              </a:rPr>
              <a:t>Learn Java Online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75496C-8FA4-4867-A363-65B540673A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6955" y="4033164"/>
            <a:ext cx="8378090" cy="1181206"/>
          </a:xfrm>
          <a:effectLst/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https://www.w3schools.com/java/default.asp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7FDC3D-DFDE-44B4-B8D3-D00CFCE86A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829" y="5757781"/>
            <a:ext cx="1155670" cy="1985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50421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ABF8B-41D3-4F35-BB0D-70FD6030F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E5A4A6-A7C2-487F-A73C-943CE97976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a = 5</a:t>
            </a:r>
          </a:p>
          <a:p>
            <a:r>
              <a:rPr lang="en-GB" dirty="0"/>
              <a:t>b = 8</a:t>
            </a:r>
          </a:p>
          <a:p>
            <a:r>
              <a:rPr lang="en-GB" dirty="0"/>
              <a:t>c = 9</a:t>
            </a:r>
          </a:p>
          <a:p>
            <a:r>
              <a:rPr lang="en-GB" dirty="0"/>
              <a:t>if a + b == c:</a:t>
            </a:r>
          </a:p>
          <a:p>
            <a:r>
              <a:rPr lang="en-GB" dirty="0"/>
              <a:t>  print('a + b is greater than c')</a:t>
            </a:r>
          </a:p>
          <a:p>
            <a:r>
              <a:rPr lang="en-GB" dirty="0"/>
              <a:t>else:</a:t>
            </a:r>
          </a:p>
          <a:p>
            <a:r>
              <a:rPr lang="en-GB" dirty="0"/>
              <a:t>  print('Unhandled exception')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153223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DBFCAAE-A826-4B1B-9734-D169A7572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1346982"/>
          </a:xfrm>
        </p:spPr>
        <p:txBody>
          <a:bodyPr>
            <a:noAutofit/>
          </a:bodyPr>
          <a:lstStyle/>
          <a:p>
            <a:pPr algn="ctr"/>
            <a:r>
              <a:rPr lang="en-GB" sz="8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lackadder ITC" panose="04020505051007020D02" pitchFamily="82" charset="0"/>
              </a:rPr>
              <a:t>~Cheers~</a:t>
            </a:r>
            <a:endParaRPr lang="en-US" sz="8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lackadder ITC" panose="04020505051007020D02" pitchFamily="82" charset="0"/>
            </a:endParaRPr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C06BD94C-FA16-4FF2-A190-284490AE0AF3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000" b="15000"/>
          <a:stretch>
            <a:fillRect/>
          </a:stretch>
        </p:blipFill>
        <p:spPr/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79E1EE-A77B-4C78-B5DC-29FD8B8C2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87A3F-1EEA-4FD3-8D97-9A4D6B219299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16368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9ECD33"/>
      </a:accent1>
      <a:accent2>
        <a:srgbClr val="E19933"/>
      </a:accent2>
      <a:accent3>
        <a:srgbClr val="DC5D3D"/>
      </a:accent3>
      <a:accent4>
        <a:srgbClr val="A967CB"/>
      </a:accent4>
      <a:accent5>
        <a:srgbClr val="5EA5DD"/>
      </a:accent5>
      <a:accent6>
        <a:srgbClr val="44BEA9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98D1675B-7325-48AD-994B-0DEF3379A98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Quotable</Template>
  <TotalTime>1117</TotalTime>
  <Words>667</Words>
  <Application>Microsoft Office PowerPoint</Application>
  <PresentationFormat>Widescreen</PresentationFormat>
  <Paragraphs>95</Paragraphs>
  <Slides>17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Blackadder ITC</vt:lpstr>
      <vt:lpstr>Calibri</vt:lpstr>
      <vt:lpstr>Century Gothic</vt:lpstr>
      <vt:lpstr>Wingdings 2</vt:lpstr>
      <vt:lpstr>Quotable</vt:lpstr>
      <vt:lpstr>OBJECT ORIENTED PROGRAMMING  (WITH JAVA) Lecture 3 INTRODUCTION TO JAVA</vt:lpstr>
      <vt:lpstr>Fundamentals of Programming</vt:lpstr>
      <vt:lpstr>Basic Syntax</vt:lpstr>
      <vt:lpstr>Operations in Java</vt:lpstr>
      <vt:lpstr>Arithmetic Operators</vt:lpstr>
      <vt:lpstr>Assignment Operators</vt:lpstr>
      <vt:lpstr>Comparison Operators</vt:lpstr>
      <vt:lpstr>Logical Operators</vt:lpstr>
      <vt:lpstr>Decision Making (Control structure):  Conditions and IF Statements</vt:lpstr>
      <vt:lpstr>IF Statement</vt:lpstr>
      <vt:lpstr>ELSE IF Statement </vt:lpstr>
      <vt:lpstr>IF… ELSE IF … ELSE Statement</vt:lpstr>
      <vt:lpstr>Loops</vt:lpstr>
      <vt:lpstr>While Loops</vt:lpstr>
      <vt:lpstr>Learn Java Online</vt:lpstr>
      <vt:lpstr>Example </vt:lpstr>
      <vt:lpstr>~Cheers~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 ORIENTED PROGRAMMING (JAVA) Lecture 1</dc:title>
  <dc:creator>Adam Zubair</dc:creator>
  <cp:lastModifiedBy>Adam Zubair</cp:lastModifiedBy>
  <cp:revision>22</cp:revision>
  <dcterms:created xsi:type="dcterms:W3CDTF">2021-11-05T16:46:12Z</dcterms:created>
  <dcterms:modified xsi:type="dcterms:W3CDTF">2025-11-19T09:02:42Z</dcterms:modified>
</cp:coreProperties>
</file>